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62" r:id="rId3"/>
    <p:sldId id="258" r:id="rId4"/>
    <p:sldId id="266" r:id="rId5"/>
    <p:sldId id="279" r:id="rId6"/>
    <p:sldId id="280" r:id="rId7"/>
    <p:sldId id="281" r:id="rId8"/>
    <p:sldId id="285" r:id="rId9"/>
    <p:sldId id="291" r:id="rId10"/>
    <p:sldId id="268" r:id="rId11"/>
    <p:sldId id="269" r:id="rId12"/>
    <p:sldId id="282" r:id="rId13"/>
    <p:sldId id="292" r:id="rId14"/>
    <p:sldId id="283" r:id="rId15"/>
    <p:sldId id="286" r:id="rId16"/>
    <p:sldId id="272" r:id="rId17"/>
    <p:sldId id="275" r:id="rId18"/>
    <p:sldId id="284" r:id="rId19"/>
    <p:sldId id="293" r:id="rId20"/>
    <p:sldId id="290" r:id="rId21"/>
    <p:sldId id="298" r:id="rId22"/>
    <p:sldId id="297" r:id="rId23"/>
    <p:sldId id="273" r:id="rId24"/>
    <p:sldId id="276" r:id="rId25"/>
    <p:sldId id="294" r:id="rId26"/>
    <p:sldId id="295" r:id="rId27"/>
    <p:sldId id="296" r:id="rId28"/>
    <p:sldId id="299" r:id="rId29"/>
    <p:sldId id="274" r:id="rId30"/>
    <p:sldId id="277" r:id="rId31"/>
    <p:sldId id="287" r:id="rId32"/>
    <p:sldId id="288" r:id="rId33"/>
    <p:sldId id="300" r:id="rId3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6900"/>
    <a:srgbClr val="CC5044"/>
    <a:srgbClr val="129B12"/>
    <a:srgbClr val="CC5F34"/>
    <a:srgbClr val="455240"/>
    <a:srgbClr val="F6FAFB"/>
    <a:srgbClr val="DFE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10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30.8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35.3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138 221 24575,'0'-211'0,"-5"329"0,-5 0 0,-5-1 0,-30 116 0,18-133 0,-7 40 0,33-134 0,2-19 0,7-26 0,25-84 0,142-451 0,-162 533 0,-10 31 0,0 0 0,0 1 0,7-14 0,-8 33 0,-14 282 0,5-202 0,2-14 0,-33 289 0,36-354 0,1-5 0,0-1 0,0 1 0,0-1 0,-1 0 0,1 1 0,-5 6 0,6-12 0,0 0 0,0 0 0,0 0 0,0 0 0,-1 0 0,1 0 0,0 0 0,0 0 0,0 0 0,0 0 0,-1 0 0,1 0 0,0 0 0,0 0 0,0 0 0,0 0 0,-1 0 0,1 0 0,0 0 0,0 0 0,0 0 0,0 0 0,-1 0 0,1 0 0,0 0 0,0 0 0,0-1 0,0 1 0,0 0 0,0 0 0,-1 0 0,1 0 0,0 0 0,0 0 0,0-1 0,0 1 0,0 0 0,0 0 0,0 0 0,0 0 0,0 0 0,0-1 0,0 1 0,0 0 0,0 0 0,0 0 0,0 0 0,0-1 0,0 1 0,0 0 0,0 0 0,0 0 0,0 0 0,0-1 0,0 1 0,0 0 0,-3-14 0,2-29 0,1 0 0,3 0 0,9-53 0,1-21 0,-16 174 0,1-11 0,-2 0 0,-1 0 0,-19 72 0,11-71-1365,9-28-5461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58.3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190F5-1A19-4E10-A1AB-0F14F3FB8938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4C7E-2BE3-4480-B213-840F5333B61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0818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4C7E-2BE3-4480-B213-840F5333B612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6368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B450-8EEE-7EB0-4D89-9AC8E2269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2DCAE-6E75-0646-C818-6F90C106D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04830-CE5F-F752-53D5-DF2409E0E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2972-91D4-422A-BEFA-D7CC412A4C8F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22904-3E89-743B-A79A-B9428DD0A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CB977-D6D3-8AD0-746E-47437CDF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526E-05DC-476E-B26B-6B1DD3C505F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40804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2B02-646A-DEDA-EA8F-CA3EDD6E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69533-2C1E-7DFF-0EF8-D9BA72621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7053D-1A49-B1C4-B984-237D1821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2972-91D4-422A-BEFA-D7CC412A4C8F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C6911-31B5-8208-9D8A-72266DD36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402CF-6774-319F-6F77-0F4A3456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526E-05DC-476E-B26B-6B1DD3C505F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3202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A632-E08A-11B4-DF8A-8AC39AD21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32247-8F57-164C-000E-AF67532D5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9462C-FE67-A0C5-F369-48BF240D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2972-91D4-422A-BEFA-D7CC412A4C8F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11449-6A4D-8FD3-2C65-922B3406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24C98-A3A3-DF64-B5B3-B87E200F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526E-05DC-476E-B26B-6B1DD3C505F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72369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C55E2-4512-38A7-E411-04E2270C5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8E472-7291-31CF-02CD-E8517ACBA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91209-8E37-8805-6D78-6824102CF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AF43A-A872-C34E-01E0-3392EE1EF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2972-91D4-422A-BEFA-D7CC412A4C8F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CE0DE-5887-D73C-E5F3-86D5ECF05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A0CC7-F26B-929E-A3D5-588AD26F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526E-05DC-476E-B26B-6B1DD3C505F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6924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C955-BBA9-FEF5-3559-518A5C6D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D00EE-F0AB-108B-EA1A-58A2F6F97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4679-D997-75E7-9A37-180CEAA53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D387-AFA4-9300-42C0-38C04E8E9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FDDF7-4F63-CFEA-AE4D-7B6E1551D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349530-FBEE-0701-D195-FA9318420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2972-91D4-422A-BEFA-D7CC412A4C8F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E29683-4170-69B0-2E65-1CB222D03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49627B-37BD-3B4D-5323-6C8FE899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526E-05DC-476E-B26B-6B1DD3C505F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85785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B843-7213-BE0F-B4EA-7FBFEC2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2AE838-1B8E-7CD2-0280-E4D81823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2972-91D4-422A-BEFA-D7CC412A4C8F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481DA-F466-20A8-CA37-8D09BA53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B02A7-E052-7C8C-B316-71A5022B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526E-05DC-476E-B26B-6B1DD3C505F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730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87330-6D28-3BDA-2CE4-7898FFA2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2972-91D4-422A-BEFA-D7CC412A4C8F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1A029-F296-45FA-46D5-E0265BCBE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531A1-E515-2034-331E-AAFBD282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526E-05DC-476E-B26B-6B1DD3C505F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36274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0179-A0D2-1DA7-1B71-CF25C588C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D2177-7120-0A35-E8DC-D462F5E1D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956A9-C9C0-8E0D-B37C-C9454343A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42C9A-C1C1-0994-0DB2-D8057D28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2972-91D4-422A-BEFA-D7CC412A4C8F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6EF26-F647-E20C-CB69-3C1FFA9CA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8590A-91EC-1E47-B1B0-690DDE88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526E-05DC-476E-B26B-6B1DD3C505F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0541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AFD9D-EDC7-DF89-8607-6EA0F65F0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8F476-F426-3838-D292-DB8873652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3C1EC-9E8A-D77C-0B84-247B4E353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08199-B2AA-FCDB-0125-E3A7EB58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2972-91D4-422A-BEFA-D7CC412A4C8F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4BB0D-BB68-28B6-A0C4-F32915C0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D2E60-015F-DD66-27DB-49EEF626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526E-05DC-476E-B26B-6B1DD3C505F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2197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4F47-0DFD-B135-9880-0A1C29825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EB09C1-40BC-0A34-BC41-E8CBB7C04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483A-F464-A862-65A1-8A148AAE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2972-91D4-422A-BEFA-D7CC412A4C8F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D542B-6228-6ACA-6F7D-B55F151E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9DA8D-34CA-5A83-A1E1-C911BFA7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526E-05DC-476E-B26B-6B1DD3C505F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96184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5821E-2491-3F89-A2A2-A25581199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38B9F-F865-F100-F8A9-A37DD9587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01876-565B-DA63-08B3-68A6D1709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42972-91D4-422A-BEFA-D7CC412A4C8F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A0E04-6E88-4880-009F-C1EA41B23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54813-0CC9-BC69-036B-79A0B3B3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F526E-05DC-476E-B26B-6B1DD3C505F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6052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9E8D8E-CA51-D911-8EA2-760E56D09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353A6-0919-6494-525E-03289B380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F1466-C098-A216-1CB9-B64114FC2B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42972-91D4-422A-BEFA-D7CC412A4C8F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08F34-35ED-9E0D-0635-B5DB0414A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DC652-9657-041D-A331-DA2165CED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F526E-05DC-476E-B26B-6B1DD3C505F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8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5" Type="http://schemas.openxmlformats.org/officeDocument/2006/relationships/image" Target="../media/image29.png"/><Relationship Id="rId4" Type="http://schemas.openxmlformats.org/officeDocument/2006/relationships/customXml" Target="../ink/ink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6,900+ Forest Fire Illustrations Stock Illustrations, Royalty-Free Vector  Graphics &amp; Clip Art - iStock">
            <a:extLst>
              <a:ext uri="{FF2B5EF4-FFF2-40B4-BE49-F238E27FC236}">
                <a16:creationId xmlns:a16="http://schemas.microsoft.com/office/drawing/2014/main" id="{16ECBED0-225F-FC78-9D7E-67E89FD60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1" y="-1"/>
            <a:ext cx="6857999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EB37662-2366-D3B7-4EB3-38B97B44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>
            <a:normAutofit/>
          </a:bodyPr>
          <a:lstStyle/>
          <a:p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br>
              <a:rPr lang="en-IL" sz="2800" dirty="0"/>
            </a:br>
            <a:endParaRPr lang="en-IL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175C92-3C36-396A-8CAD-939D4D9D8B42}"/>
              </a:ext>
            </a:extLst>
          </p:cNvPr>
          <p:cNvSpPr/>
          <p:nvPr/>
        </p:nvSpPr>
        <p:spPr>
          <a:xfrm>
            <a:off x="0" y="212733"/>
            <a:ext cx="6774426" cy="64325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solidFill>
                  <a:srgbClr val="CC5F34"/>
                </a:solidFill>
                <a:latin typeface="Segoe Print" panose="02000600000000000000" pitchFamily="2" charset="0"/>
              </a:rPr>
              <a:t>Fire Spread Simulation</a:t>
            </a:r>
            <a:br>
              <a:rPr lang="en-US" sz="4000" b="1" dirty="0">
                <a:solidFill>
                  <a:srgbClr val="CC5F34"/>
                </a:solidFill>
                <a:latin typeface="Segoe Print" panose="02000600000000000000" pitchFamily="2" charset="0"/>
              </a:rPr>
            </a:br>
            <a:r>
              <a:rPr lang="en-US" sz="4000" b="1" dirty="0">
                <a:solidFill>
                  <a:srgbClr val="CC5F34"/>
                </a:solidFill>
                <a:latin typeface="Segoe Print" panose="02000600000000000000" pitchFamily="2" charset="0"/>
              </a:rPr>
              <a:t> in Sparse Forests</a:t>
            </a:r>
          </a:p>
          <a:p>
            <a:pPr algn="ctr"/>
            <a:br>
              <a:rPr lang="en-US" sz="3200" b="1" dirty="0"/>
            </a:br>
            <a:r>
              <a:rPr lang="en-GB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Course:</a:t>
            </a:r>
          </a:p>
          <a:p>
            <a:pPr algn="ctr"/>
            <a:r>
              <a:rPr lang="en-GB" sz="2800" dirty="0">
                <a:latin typeface="Century" panose="02040604050505020304" pitchFamily="18" charset="0"/>
              </a:rPr>
              <a:t>Computational Methods</a:t>
            </a:r>
          </a:p>
          <a:p>
            <a:pPr algn="ctr"/>
            <a:r>
              <a:rPr lang="en-GB" sz="2800" dirty="0">
                <a:latin typeface="Century" panose="02040604050505020304" pitchFamily="18" charset="0"/>
              </a:rPr>
              <a:t>in Statistics B</a:t>
            </a:r>
          </a:p>
          <a:p>
            <a:pPr algn="ctr"/>
            <a:endParaRPr lang="en-GB" sz="2800" dirty="0">
              <a:latin typeface="Century" panose="02040604050505020304" pitchFamily="18" charset="0"/>
            </a:endParaRPr>
          </a:p>
          <a:p>
            <a:pPr algn="ctr"/>
            <a:r>
              <a:rPr lang="en-US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Date:</a:t>
            </a:r>
          </a:p>
          <a:p>
            <a:pPr algn="ctr"/>
            <a:r>
              <a:rPr lang="en-US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800" dirty="0">
                <a:latin typeface="Century" panose="02040604050505020304" pitchFamily="18" charset="0"/>
              </a:rPr>
              <a:t>July 1, 2025</a:t>
            </a:r>
          </a:p>
          <a:p>
            <a:pPr algn="ctr"/>
            <a:endParaRPr lang="en-US" sz="3200" b="1" dirty="0">
              <a:latin typeface="Century" panose="02040604050505020304" pitchFamily="18" charset="0"/>
            </a:endParaRPr>
          </a:p>
          <a:p>
            <a:pPr algn="ctr"/>
            <a:r>
              <a:rPr lang="en-US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Team:</a:t>
            </a:r>
            <a:br>
              <a:rPr lang="en-US" sz="3200" b="1" dirty="0">
                <a:latin typeface="Century" panose="02040604050505020304" pitchFamily="18" charset="0"/>
              </a:rPr>
            </a:br>
            <a:r>
              <a:rPr lang="en-US" sz="2800" dirty="0">
                <a:latin typeface="Century" panose="02040604050505020304" pitchFamily="18" charset="0"/>
              </a:rPr>
              <a:t>Yousef Shehade</a:t>
            </a:r>
          </a:p>
          <a:p>
            <a:pPr algn="ctr"/>
            <a:r>
              <a:rPr lang="en-US" sz="2800" dirty="0">
                <a:latin typeface="Century" panose="02040604050505020304" pitchFamily="18" charset="0"/>
              </a:rPr>
              <a:t>Shada Esawi</a:t>
            </a:r>
            <a:endParaRPr lang="en-GB" sz="28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B999EBD-E426-FD70-43BA-8E540354D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3885785"/>
            <a:ext cx="11564964" cy="29722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F4E7E3-7D4A-D129-1B12-CA0FED5668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4532671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en-GB" sz="4000" b="1" dirty="0">
                    <a:solidFill>
                      <a:srgbClr val="129B12"/>
                    </a:solidFill>
                  </a:rPr>
                  <a:t>Model Description</a:t>
                </a:r>
                <a:br>
                  <a:rPr lang="en-GB" sz="3200" b="1" dirty="0"/>
                </a:br>
                <a:br>
                  <a:rPr lang="en-GB" sz="3200" b="1" dirty="0"/>
                </a:br>
                <a:r>
                  <a:rPr lang="en-GB" sz="3200" b="1" dirty="0"/>
                  <a:t>• </a:t>
                </a:r>
                <a:r>
                  <a:rPr lang="en-GB" sz="3200" dirty="0"/>
                  <a:t>Forest =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200" dirty="0"/>
                  <a:t>grid</a:t>
                </a:r>
                <a:br>
                  <a:rPr lang="en-GB" sz="3200" dirty="0"/>
                </a:br>
                <a:br>
                  <a:rPr lang="en-GB" sz="3200" dirty="0"/>
                </a:br>
                <a:r>
                  <a:rPr lang="en-GB" sz="3200" b="1" dirty="0"/>
                  <a:t>• </a:t>
                </a:r>
                <a:r>
                  <a:rPr lang="en-GB" sz="3200" dirty="0"/>
                  <a:t>Each cell: “tree” with probability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GB" sz="3200" dirty="0"/>
                  <a:t>“empty” with probability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br>
                  <a:rPr lang="en-GB" sz="3200" dirty="0"/>
                </a:br>
                <a:br>
                  <a:rPr lang="en-GB" sz="3200" dirty="0"/>
                </a:br>
                <a:r>
                  <a:rPr lang="en-GB" sz="3200" b="1" dirty="0"/>
                  <a:t>• </a:t>
                </a:r>
                <a:r>
                  <a:rPr lang="en-GB" sz="3200" dirty="0"/>
                  <a:t>Initial ignition: all bottom‐row trees catch fire at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3200" dirty="0"/>
                </a:br>
                <a:br>
                  <a:rPr lang="en-GB" sz="3200" dirty="0"/>
                </a:br>
                <a:r>
                  <a:rPr lang="en-GB" sz="3200" b="1" dirty="0"/>
                  <a:t>• </a:t>
                </a:r>
                <a:r>
                  <a:rPr lang="en-GB" sz="3200" dirty="0"/>
                  <a:t>Fire spreads to 4‐ (up, down, left, right); once burned, cell is final</a:t>
                </a:r>
                <a:br>
                  <a:rPr lang="en-GB" sz="3200" dirty="0"/>
                </a:br>
                <a:endParaRPr lang="en-IL" sz="32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F4E7E3-7D4A-D129-1B12-CA0FED5668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453267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009631-F480-79E3-3B22-BD7055BA7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3833"/>
            <a:ext cx="4114800" cy="365125"/>
          </a:xfrm>
        </p:spPr>
        <p:txBody>
          <a:bodyPr/>
          <a:lstStyle/>
          <a:p>
            <a:r>
              <a:rPr lang="he-IL" sz="1600" dirty="0"/>
              <a:t>2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2209652200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orest fire">
            <a:extLst>
              <a:ext uri="{FF2B5EF4-FFF2-40B4-BE49-F238E27FC236}">
                <a16:creationId xmlns:a16="http://schemas.microsoft.com/office/drawing/2014/main" id="{0B420A1F-DE53-C0D6-CD06-093FBC015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680" y="2045109"/>
            <a:ext cx="4467320" cy="470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36D58CE3-0FBF-A472-CFE1-92EB269704A9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 bwMode="auto">
              <a:xfrm>
                <a:off x="-2" y="0"/>
                <a:ext cx="8170606" cy="25545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lnSpc>
                    <a:spcPct val="100000"/>
                  </a:lnSpc>
                  <a:spcAft>
                    <a:spcPct val="0"/>
                  </a:spcAft>
                </a:pPr>
                <a:br>
                  <a:rPr kumimoji="0" lang="en-US" altLang="en-IL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</a:br>
                <a:r>
                  <a:rPr kumimoji="0" lang="en-IL" altLang="en-IL" sz="3200" b="1" i="0" u="none" strike="noStrike" cap="none" normalizeH="0" baseline="0" dirty="0">
                    <a:ln>
                      <a:noFill/>
                    </a:ln>
                    <a:solidFill>
                      <a:srgbClr val="F86900"/>
                    </a:solidFill>
                    <a:effectLst/>
                    <a:latin typeface="Arial" panose="020B0604020202020204" pitchFamily="34" charset="0"/>
                  </a:rPr>
                  <a:t>Key Questions:</a:t>
                </a:r>
                <a:br>
                  <a:rPr kumimoji="0" lang="en-US" altLang="en-IL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</a:br>
                <a:br>
                  <a:rPr kumimoji="0" lang="en-IL" altLang="en-IL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</a:br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•</a:t>
                </a:r>
                <a:r>
                  <a:rPr kumimoji="0" lang="en-US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How does tree density </a:t>
                </a:r>
                <a14:m>
                  <m:oMath xmlns:m="http://schemas.openxmlformats.org/officeDocument/2006/math">
                    <m:r>
                      <a:rPr kumimoji="0" lang="en-US" altLang="en-IL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affect whether</a:t>
                </a:r>
                <a:r>
                  <a:rPr lang="en-US" altLang="en-IL" sz="2800" dirty="0">
                    <a:latin typeface="Arial" panose="020B0604020202020204" pitchFamily="34" charset="0"/>
                  </a:rPr>
                  <a:t> </a:t>
                </a:r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 fire spreads through </a:t>
                </a:r>
                <a:r>
                  <a:rPr lang="en-US" altLang="en-IL" sz="2800" dirty="0">
                    <a:latin typeface="Arial" panose="020B0604020202020204" pitchFamily="34" charset="0"/>
                  </a:rPr>
                  <a:t>more than </a:t>
                </a:r>
                <a14:m>
                  <m:oMath xmlns:m="http://schemas.openxmlformats.org/officeDocument/2006/math">
                    <m:r>
                      <a:rPr lang="en-US" altLang="en-IL" sz="2800" b="0" i="1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en-IL" sz="2800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of </a:t>
                </a:r>
                <a:r>
                  <a:rPr kumimoji="0" lang="en-US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the</a:t>
                </a:r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forest?</a:t>
                </a:r>
                <a:br>
                  <a:rPr kumimoji="0" lang="en-IL" altLang="en-IL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</a:br>
                <a:endParaRPr kumimoji="0" lang="en-IL" altLang="en-IL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36D58CE3-0FBF-A472-CFE1-92EB26970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 bwMode="auto">
              <a:xfrm>
                <a:off x="-2" y="0"/>
                <a:ext cx="8170606" cy="2554545"/>
              </a:xfrm>
              <a:prstGeom prst="rect">
                <a:avLst/>
              </a:prstGeom>
              <a:blipFill>
                <a:blip r:embed="rId3"/>
                <a:stretch>
                  <a:fillRect l="-18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7BC1E5-DA1C-95BB-3525-5BCF70176BC6}"/>
                  </a:ext>
                </a:extLst>
              </p:cNvPr>
              <p:cNvSpPr txBox="1"/>
              <p:nvPr/>
            </p:nvSpPr>
            <p:spPr>
              <a:xfrm>
                <a:off x="-2" y="2383145"/>
                <a:ext cx="7724680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•</a:t>
                </a:r>
                <a:r>
                  <a:rPr kumimoji="0" lang="en-US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Can we identify a critical density</a:t>
                </a:r>
                <a:r>
                  <a:rPr kumimoji="0" lang="en-US" altLang="en-IL" sz="2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IL" sz="2800" b="0" i="1" u="none" strike="noStrike" cap="none" normalizeH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IL" sz="2800" b="0" i="1" u="none" strike="noStrike" cap="none" normalizeH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0" lang="en-US" altLang="en-IL" sz="2800" b="0" i="1" u="none" strike="noStrike" cap="none" normalizeH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below</a:t>
                </a:r>
                <a:r>
                  <a:rPr lang="en-US" altLang="en-IL" sz="2800" dirty="0">
                    <a:latin typeface="Arial" panose="020B0604020202020204" pitchFamily="34" charset="0"/>
                  </a:rPr>
                  <a:t> </a:t>
                </a:r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which large-scale fires are</a:t>
                </a:r>
                <a:r>
                  <a:rPr kumimoji="0" lang="en-US" altLang="en-IL" sz="2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unlikely</a:t>
                </a:r>
                <a:endParaRPr lang="en-US" altLang="en-IL" sz="2800" dirty="0">
                  <a:latin typeface="Arial" panose="020B0604020202020204" pitchFamily="34" charset="0"/>
                </a:endParaRPr>
              </a:p>
              <a:p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0" lang="en-IL" altLang="en-IL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≤</m:t>
                    </m:r>
                    <m:r>
                      <a:rPr kumimoji="0" lang="en-IL" altLang="en-IL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50</m:t>
                    </m:r>
                    <m:r>
                      <a:rPr kumimoji="0" lang="en-IL" altLang="en-IL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burn with </a:t>
                </a:r>
                <a14:m>
                  <m:oMath xmlns:m="http://schemas.openxmlformats.org/officeDocument/2006/math">
                    <m:r>
                      <a:rPr kumimoji="0" lang="en-IL" altLang="en-IL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95</m:t>
                    </m:r>
                    <m:r>
                      <a:rPr kumimoji="0" lang="en-IL" altLang="en-IL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probability)?</a:t>
                </a:r>
                <a:endParaRPr lang="en-IL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7BC1E5-DA1C-95BB-3525-5BCF70176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2383145"/>
                <a:ext cx="7724680" cy="1384995"/>
              </a:xfrm>
              <a:prstGeom prst="rect">
                <a:avLst/>
              </a:prstGeom>
              <a:blipFill>
                <a:blip r:embed="rId4"/>
                <a:stretch>
                  <a:fillRect l="-1579" t="-4846" b="-101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A3B2D6-DA0F-9027-E612-6704367BFDCE}"/>
                  </a:ext>
                </a:extLst>
              </p:cNvPr>
              <p:cNvSpPr txBox="1"/>
              <p:nvPr/>
            </p:nvSpPr>
            <p:spPr>
              <a:xfrm>
                <a:off x="-1" y="4098197"/>
                <a:ext cx="7724679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•</a:t>
                </a:r>
                <a:r>
                  <a:rPr kumimoji="0" lang="en-US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How does this critical threshold change as the</a:t>
                </a:r>
                <a:r>
                  <a:rPr lang="en-US" altLang="en-IL" sz="2800" dirty="0">
                    <a:latin typeface="Arial" panose="020B0604020202020204" pitchFamily="34" charset="0"/>
                  </a:rPr>
                  <a:t> </a:t>
                </a:r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forest size </a:t>
                </a:r>
                <a14:m>
                  <m:oMath xmlns:m="http://schemas.openxmlformats.org/officeDocument/2006/math">
                    <m:r>
                      <a:rPr kumimoji="0" lang="en-US" altLang="en-IL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increases?</a:t>
                </a:r>
                <a:endParaRPr lang="en-IL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A3B2D6-DA0F-9027-E612-6704367BF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098197"/>
                <a:ext cx="7724679" cy="954107"/>
              </a:xfrm>
              <a:prstGeom prst="rect">
                <a:avLst/>
              </a:prstGeom>
              <a:blipFill>
                <a:blip r:embed="rId5"/>
                <a:stretch>
                  <a:fillRect l="-1579" t="-6369" r="-552" b="-1465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F7EFB6-3599-44BB-8E03-42C4D3ABFE11}"/>
                  </a:ext>
                </a:extLst>
              </p:cNvPr>
              <p:cNvSpPr txBox="1"/>
              <p:nvPr/>
            </p:nvSpPr>
            <p:spPr>
              <a:xfrm>
                <a:off x="-2" y="5382361"/>
                <a:ext cx="7724678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•</a:t>
                </a:r>
                <a:r>
                  <a:rPr kumimoji="0" lang="en-US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What density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en-IL" sz="2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en-IL" sz="2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kumimoji="0" lang="en-US" altLang="en-IL" sz="2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maximizes the number of</a:t>
                </a:r>
                <a:r>
                  <a:rPr lang="en-US" altLang="en-IL" sz="2800" dirty="0">
                    <a:latin typeface="Arial" panose="020B0604020202020204" pitchFamily="34" charset="0"/>
                  </a:rPr>
                  <a:t> </a:t>
                </a:r>
                <a:r>
                  <a:rPr kumimoji="0" lang="en-IL" altLang="en-IL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surviving trees after a fire?</a:t>
                </a:r>
                <a:endParaRPr lang="en-IL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F7EFB6-3599-44BB-8E03-42C4D3ABF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5382361"/>
                <a:ext cx="7724678" cy="954107"/>
              </a:xfrm>
              <a:prstGeom prst="rect">
                <a:avLst/>
              </a:prstGeom>
              <a:blipFill>
                <a:blip r:embed="rId6"/>
                <a:stretch>
                  <a:fillRect l="-1579" t="-7051" b="-1538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C4F0367-B61D-2FEA-AC19-B4B79A09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4169"/>
            <a:ext cx="4114800" cy="365125"/>
          </a:xfrm>
        </p:spPr>
        <p:txBody>
          <a:bodyPr/>
          <a:lstStyle/>
          <a:p>
            <a:r>
              <a:rPr lang="he-IL" sz="1600" dirty="0"/>
              <a:t>3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4115300182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8616-BD26-8667-3A6F-5471CDCF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5" y="91645"/>
            <a:ext cx="3969774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1</a:t>
            </a:r>
            <a:endParaRPr lang="en-IL" sz="4800" b="1" dirty="0">
              <a:solidFill>
                <a:srgbClr val="CC5044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EC5E462-8D80-BA22-6763-A5E68002DAEB}"/>
              </a:ext>
            </a:extLst>
          </p:cNvPr>
          <p:cNvSpPr txBox="1">
            <a:spLocks/>
          </p:cNvSpPr>
          <p:nvPr/>
        </p:nvSpPr>
        <p:spPr>
          <a:xfrm>
            <a:off x="435075" y="11172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200" b="1" dirty="0"/>
              <a:t>Write a simulation code that proceeds in time steps until no more trees are burning. </a:t>
            </a:r>
            <a:endParaRPr lang="en-IL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D8FEF-1ECE-FBA9-5491-C56C601D5E43}"/>
              </a:ext>
            </a:extLst>
          </p:cNvPr>
          <p:cNvSpPr txBox="1"/>
          <p:nvPr/>
        </p:nvSpPr>
        <p:spPr>
          <a:xfrm>
            <a:off x="435075" y="2321326"/>
            <a:ext cx="1051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he-IL" sz="3200" dirty="0" err="1"/>
              <a:t>The</a:t>
            </a:r>
            <a:r>
              <a:rPr lang="he-IL" sz="3200" dirty="0"/>
              <a:t> </a:t>
            </a:r>
            <a:r>
              <a:rPr lang="he-IL" sz="3200" dirty="0" err="1"/>
              <a:t>output</a:t>
            </a:r>
            <a:r>
              <a:rPr lang="he-IL" sz="3200" dirty="0"/>
              <a:t> </a:t>
            </a:r>
            <a:r>
              <a:rPr lang="he-IL" sz="3200" dirty="0" err="1"/>
              <a:t>of</a:t>
            </a:r>
            <a:r>
              <a:rPr lang="he-IL" sz="3200" dirty="0"/>
              <a:t> </a:t>
            </a:r>
            <a:r>
              <a:rPr lang="he-IL" sz="3200" dirty="0" err="1"/>
              <a:t>one</a:t>
            </a:r>
            <a:r>
              <a:rPr lang="he-IL" sz="3200" dirty="0"/>
              <a:t> </a:t>
            </a:r>
            <a:r>
              <a:rPr lang="he-IL" sz="3200" dirty="0" err="1"/>
              <a:t>simulation</a:t>
            </a:r>
            <a:r>
              <a:rPr lang="he-IL" sz="3200" dirty="0"/>
              <a:t>:</a:t>
            </a:r>
            <a:br>
              <a:rPr lang="he-IL" sz="3200" dirty="0"/>
            </a:br>
            <a:r>
              <a:rPr lang="he-IL" sz="3200" dirty="0"/>
              <a:t>•</a:t>
            </a:r>
            <a:r>
              <a:rPr lang="en-US" sz="3200" dirty="0"/>
              <a:t> Total number or percentage of trees burned.</a:t>
            </a:r>
            <a:endParaRPr lang="en-IL" sz="3200" dirty="0"/>
          </a:p>
          <a:p>
            <a:r>
              <a:rPr lang="en-US" sz="3200" dirty="0"/>
              <a:t>• Whether more than 50% of the forest was burned.</a:t>
            </a:r>
            <a:endParaRPr lang="en-IL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7F127-B6F4-C55C-6D9F-66783A573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3885785"/>
            <a:ext cx="11564964" cy="2972215"/>
          </a:xfrm>
          <a:prstGeom prst="rect">
            <a:avLst/>
          </a:prstGeom>
        </p:spPr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961147A-8C42-933D-3DEF-2F972FE5D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600"/>
              <a:t>4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18769377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932EC-1D9A-E5E8-7765-31F3D4BB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916F3-C574-0C54-A4A2-E9A51AA09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84312"/>
            <a:ext cx="10515600" cy="1099881"/>
          </a:xfrm>
        </p:spPr>
        <p:txBody>
          <a:bodyPr/>
          <a:lstStyle/>
          <a:p>
            <a:pPr algn="ctr"/>
            <a:r>
              <a:rPr lang="en-US" dirty="0"/>
              <a:t>Initializing the forest</a:t>
            </a:r>
            <a:endParaRPr lang="en-IL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884B12-C5CF-6A2B-A76C-DA182C009DDF}"/>
              </a:ext>
            </a:extLst>
          </p:cNvPr>
          <p:cNvSpPr txBox="1">
            <a:spLocks/>
          </p:cNvSpPr>
          <p:nvPr/>
        </p:nvSpPr>
        <p:spPr>
          <a:xfrm>
            <a:off x="159774" y="717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C5044"/>
                </a:solidFill>
              </a:rPr>
              <a:t>Question 1 - Solution</a:t>
            </a:r>
            <a:endParaRPr lang="en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A0F6D8-7BFB-0118-E6AC-80952E255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345" y="2469495"/>
            <a:ext cx="6999309" cy="42361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CF6690-89C0-EFBB-0085-99FBBCAB3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416" y="1812178"/>
            <a:ext cx="4039164" cy="657317"/>
          </a:xfrm>
          <a:prstGeom prst="rect">
            <a:avLst/>
          </a:prstGeom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A01682C8-4659-BEB6-B419-7A082E36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356350"/>
            <a:ext cx="4114800" cy="365125"/>
          </a:xfrm>
        </p:spPr>
        <p:txBody>
          <a:bodyPr/>
          <a:lstStyle/>
          <a:p>
            <a:r>
              <a:rPr lang="en-US" sz="1600" dirty="0"/>
              <a:t>5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240692868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1B711-3E46-A95E-D7A1-F3BA9EF5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3A25-49E3-DC9C-11C3-1E11E3E30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66570"/>
            <a:ext cx="10515600" cy="1099881"/>
          </a:xfrm>
        </p:spPr>
        <p:txBody>
          <a:bodyPr/>
          <a:lstStyle/>
          <a:p>
            <a:pPr algn="ctr"/>
            <a:r>
              <a:rPr lang="en-US" dirty="0"/>
              <a:t>Igniting fire in bottom row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5364E-6CF1-A754-E0D6-0346A7C16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216" y="2130766"/>
            <a:ext cx="7267563" cy="259646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EACCD-73DE-B054-9070-06D5AA06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600" dirty="0"/>
              <a:t>6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690410988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FCF8-5528-2725-DD5E-42B3AFE3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946"/>
            <a:ext cx="10515600" cy="942565"/>
          </a:xfrm>
        </p:spPr>
        <p:txBody>
          <a:bodyPr/>
          <a:lstStyle/>
          <a:p>
            <a:pPr algn="ctr"/>
            <a:r>
              <a:rPr lang="en-US" dirty="0"/>
              <a:t>Spreading fire according to the logic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D82562-B1F3-98DD-ED90-5565E2283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014" y="1233511"/>
            <a:ext cx="9543972" cy="5204806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DA8D47-77A4-F3AB-2B8C-1D4284517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350"/>
            <a:ext cx="4114800" cy="365125"/>
          </a:xfrm>
        </p:spPr>
        <p:txBody>
          <a:bodyPr/>
          <a:lstStyle/>
          <a:p>
            <a:r>
              <a:rPr lang="en-US" sz="1600" dirty="0"/>
              <a:t>7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019283694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BD09-76DC-A9BD-A6B0-2ACCA0E5B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Simulating fire and counting trees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E3D60-B90D-F3E8-4E36-0BDBD7405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360" y="1690688"/>
            <a:ext cx="8055279" cy="4823448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7C1E89E-612E-68ED-DB6A-2D73D60DC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350"/>
            <a:ext cx="4114800" cy="365125"/>
          </a:xfrm>
        </p:spPr>
        <p:txBody>
          <a:bodyPr/>
          <a:lstStyle/>
          <a:p>
            <a:r>
              <a:rPr lang="en-US" sz="1600" dirty="0"/>
              <a:t>8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394002511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C80AD-918F-5998-AF80-9FB96D15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049"/>
          </a:xfrm>
        </p:spPr>
        <p:txBody>
          <a:bodyPr/>
          <a:lstStyle/>
          <a:p>
            <a:pPr algn="ctr"/>
            <a:r>
              <a:rPr lang="en-US" dirty="0"/>
              <a:t>Simulations over different n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C5F41-CA63-232E-8B82-DC9949B6E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813" y="1405553"/>
            <a:ext cx="8770374" cy="511181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009CA33-63D2-7B25-6B83-9E650D3B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2993"/>
            <a:ext cx="4114800" cy="365125"/>
          </a:xfrm>
        </p:spPr>
        <p:txBody>
          <a:bodyPr/>
          <a:lstStyle/>
          <a:p>
            <a:r>
              <a:rPr lang="en-US" sz="1600" dirty="0"/>
              <a:t>9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825919145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026B-71F8-5D36-91FA-F96944780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7170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C5044"/>
                </a:solidFill>
              </a:rPr>
              <a:t>Question 1 - Results</a:t>
            </a:r>
            <a:endParaRPr lang="en-IL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3795C8-349E-A2D5-5A0B-6213FA6AE00D}"/>
              </a:ext>
            </a:extLst>
          </p:cNvPr>
          <p:cNvGrpSpPr/>
          <p:nvPr/>
        </p:nvGrpSpPr>
        <p:grpSpPr>
          <a:xfrm>
            <a:off x="4089194" y="1482351"/>
            <a:ext cx="3486359" cy="3718914"/>
            <a:chOff x="159774" y="1219855"/>
            <a:chExt cx="3404010" cy="357828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FCE0AEB-243B-94EF-76E9-0E5EDAFB5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9611"/>
            <a:stretch>
              <a:fillRect/>
            </a:stretch>
          </p:blipFill>
          <p:spPr>
            <a:xfrm>
              <a:off x="159774" y="1219855"/>
              <a:ext cx="3404010" cy="211933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8F393D6-5003-FBFF-38C0-72FA1F5FD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7948"/>
            <a:stretch>
              <a:fillRect/>
            </a:stretch>
          </p:blipFill>
          <p:spPr>
            <a:xfrm>
              <a:off x="159774" y="3280432"/>
              <a:ext cx="3359423" cy="151771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66662EE-1D8A-40D6-E4B3-A8226E2EC65A}"/>
              </a:ext>
            </a:extLst>
          </p:cNvPr>
          <p:cNvGrpSpPr/>
          <p:nvPr/>
        </p:nvGrpSpPr>
        <p:grpSpPr>
          <a:xfrm>
            <a:off x="159774" y="1482351"/>
            <a:ext cx="3486360" cy="3893298"/>
            <a:chOff x="300325" y="1333644"/>
            <a:chExt cx="3486360" cy="389329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0ACD2E7-9D98-65EB-77DF-BF6D7CF2C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0465"/>
            <a:stretch>
              <a:fillRect/>
            </a:stretch>
          </p:blipFill>
          <p:spPr>
            <a:xfrm>
              <a:off x="300325" y="3516598"/>
              <a:ext cx="3486360" cy="171034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E287336-D4CE-D2C4-74FD-6E8A87F20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9739"/>
            <a:stretch>
              <a:fillRect/>
            </a:stretch>
          </p:blipFill>
          <p:spPr>
            <a:xfrm>
              <a:off x="363794" y="1333644"/>
              <a:ext cx="3359423" cy="2246576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A1973B-EBA3-6DE6-3452-2C63820AFA8C}"/>
              </a:ext>
            </a:extLst>
          </p:cNvPr>
          <p:cNvGrpSpPr/>
          <p:nvPr/>
        </p:nvGrpSpPr>
        <p:grpSpPr>
          <a:xfrm>
            <a:off x="8082081" y="1482352"/>
            <a:ext cx="3486359" cy="3854654"/>
            <a:chOff x="8051837" y="1090286"/>
            <a:chExt cx="2997577" cy="323959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976BBF8-1A10-02AC-F849-44AF38F92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9122"/>
            <a:stretch>
              <a:fillRect/>
            </a:stretch>
          </p:blipFill>
          <p:spPr>
            <a:xfrm>
              <a:off x="8115305" y="1482351"/>
              <a:ext cx="2934109" cy="284753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F5A6C09-FF3E-2237-6ACE-CB32244C2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91618"/>
            <a:stretch>
              <a:fillRect/>
            </a:stretch>
          </p:blipFill>
          <p:spPr>
            <a:xfrm>
              <a:off x="8051837" y="1090286"/>
              <a:ext cx="2934109" cy="392065"/>
            </a:xfrm>
            <a:prstGeom prst="rect">
              <a:avLst/>
            </a:prstGeom>
          </p:spPr>
        </p:pic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447D688-629D-376D-C49E-6D187C5F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600" dirty="0"/>
              <a:t>10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2422697491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AC392-A323-877A-1DB7-B4260B8EF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3310-E75F-A8DC-E56B-7DDAD071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5" y="232975"/>
            <a:ext cx="3969774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2</a:t>
            </a:r>
            <a:endParaRPr lang="en-IL" sz="4800" b="1" dirty="0">
              <a:solidFill>
                <a:srgbClr val="CC504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2F7E9D4A-E95F-DA20-92ED-FB1382C6E4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5074" y="895756"/>
                <a:ext cx="11756925" cy="2569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en-US" sz="3200" b="1" dirty="0"/>
                  <a:t>For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3200" b="1" dirty="0"/>
                  <a:t>, is there a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𝒄𝒓𝒊𝒕</m:t>
                        </m:r>
                      </m:sub>
                    </m:sSub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b="1" dirty="0"/>
                  <a:t>such that for all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3200" b="1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dirty="0" err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3200" b="1" i="1" dirty="0" err="1">
                            <a:latin typeface="Cambria Math" panose="02040503050406030204" pitchFamily="18" charset="0"/>
                          </a:rPr>
                          <m:t>𝒄𝒓𝒊</m:t>
                        </m:r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3200" b="1" dirty="0"/>
                  <a:t>, the fire burns at most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3200" b="1" dirty="0"/>
                  <a:t> of the forest with probability at least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3200" b="1" dirty="0"/>
                  <a:t>? </a:t>
                </a:r>
                <a:endParaRPr lang="en-IL" sz="3200" b="1" dirty="0"/>
              </a:p>
            </p:txBody>
          </p:sp>
        </mc:Choice>
        <mc:Fallback xmlns="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2F7E9D4A-E95F-DA20-92ED-FB1382C6E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74" y="895756"/>
                <a:ext cx="11756925" cy="2569805"/>
              </a:xfrm>
              <a:prstGeom prst="rect">
                <a:avLst/>
              </a:prstGeom>
              <a:blipFill>
                <a:blip r:embed="rId2"/>
                <a:stretch>
                  <a:fillRect l="-1296" r="-15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270FCEA-74B2-64FA-27D6-AA437C390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18" y="3325346"/>
            <a:ext cx="11564964" cy="2972215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F5D245E-A72A-EFC4-002D-5D3D7A8EC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600" dirty="0"/>
              <a:t>11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316171506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01615-8F41-24D4-E616-3E63F524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66E23-E12A-4383-F830-73ECB352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4" y="232975"/>
            <a:ext cx="5660925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C5044"/>
                </a:solidFill>
              </a:rPr>
              <a:t>Question 2 - Solution</a:t>
            </a:r>
            <a:endParaRPr lang="en-IL" b="1" dirty="0">
              <a:solidFill>
                <a:srgbClr val="CC504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153CFC-F019-B709-D39A-809F5E747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876" y="1221165"/>
            <a:ext cx="7510170" cy="5513932"/>
          </a:xfrm>
          <a:prstGeom prst="rect">
            <a:avLst/>
          </a:prstGeom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8D8A2D41-F15A-C027-1D87-466F49EE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62670" y="6356350"/>
            <a:ext cx="4114800" cy="365125"/>
          </a:xfrm>
        </p:spPr>
        <p:txBody>
          <a:bodyPr/>
          <a:lstStyle/>
          <a:p>
            <a:r>
              <a:rPr lang="en-US" sz="1600" dirty="0"/>
              <a:t>12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2218145362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A7432-8989-957C-FFE4-CA8E8681F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8AE81-1E50-4A53-332E-90D367C8E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4" y="232975"/>
            <a:ext cx="5660925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C5044"/>
                </a:solidFill>
              </a:rPr>
              <a:t>Question 2 - Solution</a:t>
            </a:r>
            <a:endParaRPr lang="en-IL" b="1" dirty="0">
              <a:solidFill>
                <a:srgbClr val="CC5044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864E7A-7819-9812-B37B-16E82F5B1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754" y="1283856"/>
            <a:ext cx="7530489" cy="5411912"/>
          </a:xfrm>
          <a:prstGeom prst="rect">
            <a:avLst/>
          </a:prstGeom>
        </p:spPr>
      </p:pic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E4227275-CD18-9A14-8DC9-6223DED3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1661" y="6356350"/>
            <a:ext cx="4114800" cy="365125"/>
          </a:xfrm>
        </p:spPr>
        <p:txBody>
          <a:bodyPr/>
          <a:lstStyle/>
          <a:p>
            <a:r>
              <a:rPr lang="en-US" sz="1600" dirty="0"/>
              <a:t>13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3993728707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F92D1-C511-0B6F-8CA6-5028AE890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705B-0C8B-66E8-560A-7DFF35FD6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7170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C5044"/>
                </a:solidFill>
              </a:rPr>
              <a:t>Question 2 - Results</a:t>
            </a:r>
            <a:endParaRPr lang="en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31F8F36-2BD4-A553-991B-5C3C33F14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626" y="1103786"/>
            <a:ext cx="8354500" cy="568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FCE29C6D-39D7-0CCE-309F-CDC6DC19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89168" y="6421172"/>
            <a:ext cx="4114800" cy="365125"/>
          </a:xfrm>
        </p:spPr>
        <p:txBody>
          <a:bodyPr/>
          <a:lstStyle/>
          <a:p>
            <a:r>
              <a:rPr lang="en-US" sz="1600" dirty="0"/>
              <a:t>14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3174359407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BB4D4-4879-E4FF-3903-2C0E14E9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2944-67F7-CEEA-75DC-DD13FE5DE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7170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C5044"/>
                </a:solidFill>
              </a:rPr>
              <a:t>Question 2 - Conclusions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7238A-A767-8B4F-90CD-BED592ACF4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16"/>
          <a:stretch>
            <a:fillRect/>
          </a:stretch>
        </p:blipFill>
        <p:spPr>
          <a:xfrm>
            <a:off x="314632" y="1193206"/>
            <a:ext cx="8986684" cy="473805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852A125-C40D-F4B1-3A10-EDB54C2E2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265" y="1622321"/>
            <a:ext cx="3704303" cy="251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F4C56B4C-D9B0-D0C1-8259-39CFC14E3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04947" y="6421172"/>
            <a:ext cx="4114800" cy="365125"/>
          </a:xfrm>
        </p:spPr>
        <p:txBody>
          <a:bodyPr/>
          <a:lstStyle/>
          <a:p>
            <a:r>
              <a:rPr lang="en-US" sz="1600" dirty="0"/>
              <a:t>15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2055752053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32754-2420-77D6-E92F-4BFFF7C1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AEDD1-0C12-1359-2B0E-D6BBA084D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5" y="232975"/>
            <a:ext cx="3969774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3</a:t>
            </a:r>
            <a:endParaRPr lang="en-IL" sz="4800" b="1" dirty="0">
              <a:solidFill>
                <a:srgbClr val="CC504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DD50DB71-9401-7634-A45F-EC9B4375F4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5075" y="1200557"/>
                <a:ext cx="11336593" cy="2569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en-US" sz="3200" b="1" dirty="0"/>
                  <a:t>How does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𝒄𝒓𝒊𝒕</m:t>
                        </m:r>
                      </m:sub>
                    </m:sSub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b="1" dirty="0"/>
                  <a:t>change with grid size (for example,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𝟐𝟎𝟎</m:t>
                    </m:r>
                  </m:oMath>
                </a14:m>
                <a:r>
                  <a:rPr lang="en-US" sz="3200" b="1" dirty="0"/>
                  <a:t>)? Is the critical value invariant, or does it scale with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3200" b="1" dirty="0"/>
                  <a:t>?</a:t>
                </a:r>
                <a:endParaRPr lang="en-IL" sz="3200" b="1" dirty="0"/>
              </a:p>
            </p:txBody>
          </p:sp>
        </mc:Choice>
        <mc:Fallback xmlns="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DD50DB71-9401-7634-A45F-EC9B4375F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75" y="1200557"/>
                <a:ext cx="11336593" cy="2569805"/>
              </a:xfrm>
              <a:prstGeom prst="rect">
                <a:avLst/>
              </a:prstGeom>
              <a:blipFill>
                <a:blip r:embed="rId2"/>
                <a:stretch>
                  <a:fillRect l="-13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B0EDD13-DD9A-80D5-3890-60412FBB1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89" y="3251836"/>
            <a:ext cx="11564964" cy="2972215"/>
          </a:xfrm>
          <a:prstGeom prst="rect">
            <a:avLst/>
          </a:prstGeom>
        </p:spPr>
      </p:pic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038936C9-B280-E82F-695D-6F413A8D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600" dirty="0"/>
              <a:t>16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2259421261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5DE77-1C4D-CFA1-A6D4-3AFF8551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E9A6C-1A63-CFBC-B732-DBD081702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4" y="232975"/>
            <a:ext cx="5365957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3 - Solution</a:t>
            </a:r>
            <a:endParaRPr lang="en-IL" sz="4800" b="1" dirty="0">
              <a:solidFill>
                <a:srgbClr val="CC5044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C69279-2153-03B8-49CD-7E220D4AF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74" y="1378786"/>
            <a:ext cx="5772956" cy="48870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ADA353-1A34-4929-077E-0D6426D92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101" y="683364"/>
            <a:ext cx="4991797" cy="5582429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80212A4-3E3A-AC82-9067-31E2A11EB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4"/>
            <a:ext cx="4114800" cy="365125"/>
          </a:xfrm>
        </p:spPr>
        <p:txBody>
          <a:bodyPr/>
          <a:lstStyle/>
          <a:p>
            <a:r>
              <a:rPr lang="he-IL" sz="1600" dirty="0"/>
              <a:t>17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4077911770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54ED3-64B4-61B7-4E26-FEFDA8B9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E874A-E371-AE6D-C7A4-74DD85875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4" y="232975"/>
            <a:ext cx="5365957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3 - Solution</a:t>
            </a:r>
            <a:endParaRPr lang="en-IL" sz="4800" b="1" dirty="0">
              <a:solidFill>
                <a:srgbClr val="CC5044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BD828F-F3A7-F060-D91B-3E8499DA4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147" y="1208958"/>
            <a:ext cx="6035768" cy="5540888"/>
          </a:xfrm>
          <a:prstGeom prst="rect">
            <a:avLst/>
          </a:prstGeom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90E71150-C7B2-2CEE-50D0-42F3D4CB9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12423" y="6384721"/>
            <a:ext cx="4114800" cy="365125"/>
          </a:xfrm>
        </p:spPr>
        <p:txBody>
          <a:bodyPr/>
          <a:lstStyle/>
          <a:p>
            <a:r>
              <a:rPr lang="en-US" sz="1600" dirty="0"/>
              <a:t>18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923493043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6E575-AAA4-2CFF-7033-E22DEA65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A1BF-3CE1-03B2-5BFD-3CB7E2B6B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4" y="232975"/>
            <a:ext cx="5365957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3 - Solution</a:t>
            </a:r>
            <a:endParaRPr lang="en-IL" sz="4800" b="1" dirty="0">
              <a:solidFill>
                <a:srgbClr val="CC504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B75CF9-AD97-E2FE-6411-C80272347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232" y="1188391"/>
            <a:ext cx="5801535" cy="5582429"/>
          </a:xfrm>
          <a:prstGeom prst="rect">
            <a:avLst/>
          </a:prstGeom>
        </p:spPr>
      </p:pic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A27A2884-8A23-C035-555B-9834AB182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96663" y="6405695"/>
            <a:ext cx="4114800" cy="365125"/>
          </a:xfrm>
        </p:spPr>
        <p:txBody>
          <a:bodyPr/>
          <a:lstStyle/>
          <a:p>
            <a:r>
              <a:rPr lang="en-US" sz="1600" dirty="0"/>
              <a:t>19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884022721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04EC-BE95-9EE5-346E-CF67A440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6748-15A6-6653-73D5-55ABC548F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7170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C5044"/>
                </a:solidFill>
              </a:rPr>
              <a:t>Question 3 - Results</a:t>
            </a:r>
            <a:endParaRPr lang="en-IL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7845267-489F-18A5-21A1-1FD82EEA7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190" y="1123723"/>
            <a:ext cx="8433619" cy="5662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38E6E84F-6228-B121-A4E7-1BF7C4A6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421172"/>
            <a:ext cx="4114800" cy="365125"/>
          </a:xfrm>
        </p:spPr>
        <p:txBody>
          <a:bodyPr/>
          <a:lstStyle/>
          <a:p>
            <a:r>
              <a:rPr lang="en-US" sz="1600" dirty="0"/>
              <a:t>20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587040988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BA05-7981-5B54-3F9C-C1524D16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86AA-5468-5FD6-E8B9-484EC9FC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7170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C5044"/>
                </a:solidFill>
              </a:rPr>
              <a:t>Question 3 - Conclusions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74496D-A6AE-4C01-8F40-5BF642EE9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74" y="1958232"/>
            <a:ext cx="9564329" cy="3348518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D0A6A9A-8BD7-F0A5-5EE0-5D3F93885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725" y="872176"/>
            <a:ext cx="5337686" cy="358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5800B303-A621-79BE-1524-62F4DE78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600" dirty="0"/>
              <a:t>21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349908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3692-DA88-CDF7-4ECE-89088528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07A2-F53C-47F3-C357-0CAC6587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-21553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C5044"/>
                </a:solidFill>
              </a:rPr>
              <a:t>Question 3 - Conclusions</a:t>
            </a:r>
            <a:endParaRPr lang="en-IL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127F22-8A2F-DA86-662F-298376036C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853"/>
          <a:stretch>
            <a:fillRect/>
          </a:stretch>
        </p:blipFill>
        <p:spPr>
          <a:xfrm>
            <a:off x="159774" y="4752203"/>
            <a:ext cx="10675374" cy="1841090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EB4D70A-1274-F998-B2D8-0879E59BE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692" y="640687"/>
            <a:ext cx="6505417" cy="420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91ED5CA-A4C2-A17E-9A85-86509500B3AF}"/>
                  </a:ext>
                </a:extLst>
              </p14:cNvPr>
              <p14:cNvContentPartPr/>
              <p14:nvPr/>
            </p14:nvContentPartPr>
            <p14:xfrm>
              <a:off x="452311" y="484690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91ED5CA-A4C2-A17E-9A85-86509500B3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191" y="48407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98A919-EB37-E573-676C-30F9DA1C37C6}"/>
                  </a:ext>
                </a:extLst>
              </p14:cNvPr>
              <p14:cNvContentPartPr/>
              <p14:nvPr/>
            </p14:nvContentPartPr>
            <p14:xfrm>
              <a:off x="323791" y="4197468"/>
              <a:ext cx="91080" cy="326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98A919-EB37-E573-676C-30F9DA1C37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671" y="4191348"/>
                <a:ext cx="10332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7698FA9-52BC-4990-A22B-C35024F9665E}"/>
                  </a:ext>
                </a:extLst>
              </p14:cNvPr>
              <p14:cNvContentPartPr/>
              <p14:nvPr/>
            </p14:nvContentPartPr>
            <p14:xfrm>
              <a:off x="11769271" y="5672748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7698FA9-52BC-4990-A22B-C35024F966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63151" y="566662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D63E4AD-F85F-E13B-A105-A0411A20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600" dirty="0"/>
              <a:t>22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35237232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AE04B-EEF8-4E50-7BDD-777ACD090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C454-C0C8-A451-3FA0-7F6C33DA3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5" y="232975"/>
            <a:ext cx="3969774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4</a:t>
            </a:r>
            <a:endParaRPr lang="en-IL" sz="4800" b="1" dirty="0">
              <a:solidFill>
                <a:srgbClr val="CC504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DBE8F367-E050-5403-46A2-697C8770E9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5075" y="895756"/>
                <a:ext cx="11196486" cy="2569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en-US" sz="3200" b="1" dirty="0"/>
                  <a:t>For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sz="3200" b="1" dirty="0"/>
                  <a:t>, find a density p that maximizes the total number of live trees after a fire.</a:t>
                </a:r>
                <a:endParaRPr lang="en-IL" sz="3200" b="1" dirty="0"/>
              </a:p>
            </p:txBody>
          </p:sp>
        </mc:Choice>
        <mc:Fallback xmlns="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DBE8F367-E050-5403-46A2-697C8770E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75" y="895756"/>
                <a:ext cx="11196486" cy="2569805"/>
              </a:xfrm>
              <a:prstGeom prst="rect">
                <a:avLst/>
              </a:prstGeom>
              <a:blipFill>
                <a:blip r:embed="rId2"/>
                <a:stretch>
                  <a:fillRect l="-1361" r="-5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EAD02EF-24EE-B394-A66A-D3C4DD0B5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36" y="2990029"/>
            <a:ext cx="11564964" cy="2972215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147D0C7-B40B-F5E1-9EA7-9DC3E14E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he-IL" sz="1600" dirty="0"/>
              <a:t>23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3893751227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DF81C-F114-7455-79C1-8C941930C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AB2F-B1BD-7CA2-28FB-64D9562A4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4" y="232975"/>
            <a:ext cx="5139815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4 - Solution</a:t>
            </a:r>
            <a:endParaRPr lang="en-IL" sz="4800" b="1" dirty="0">
              <a:solidFill>
                <a:srgbClr val="CC504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9B1A9-E7C8-E773-9E4A-634063BB1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506" y="1781251"/>
            <a:ext cx="6800766" cy="4174015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314BA-8469-491C-D960-0575E959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he-IL" sz="1600" dirty="0"/>
              <a:t>24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730372421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78ED-7237-A8DE-D324-264D929E7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559A-90D9-287E-79E5-18B530973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4" y="232975"/>
            <a:ext cx="5139815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4 - Solution</a:t>
            </a:r>
            <a:endParaRPr lang="en-IL" sz="4800" b="1" dirty="0">
              <a:solidFill>
                <a:srgbClr val="CC504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BAA8F-AE50-06CA-5C22-59FACC0C2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63" y="1256036"/>
            <a:ext cx="7729674" cy="5368989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4352C35-A1BD-013C-8786-3F27C061C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06460" y="6356350"/>
            <a:ext cx="4114800" cy="365125"/>
          </a:xfrm>
        </p:spPr>
        <p:txBody>
          <a:bodyPr/>
          <a:lstStyle/>
          <a:p>
            <a:r>
              <a:rPr lang="he-IL" sz="1600" dirty="0"/>
              <a:t>25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2334557827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01DA5-603A-3083-0D85-C8BBB9BD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86A2-E2AD-79D5-6B90-340E2725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4" y="232975"/>
            <a:ext cx="5139815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4 - Solution</a:t>
            </a:r>
            <a:endParaRPr lang="en-IL" sz="4800" b="1" dirty="0">
              <a:solidFill>
                <a:srgbClr val="CC504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5E4024-4ED6-1292-1002-3552EF544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896" y="2215790"/>
            <a:ext cx="9754208" cy="2592183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6ED82A6-B1B0-4161-77F8-28FB5EAA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he-IL" sz="1600" dirty="0"/>
              <a:t>26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559989376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727D9-7EC4-92ED-C2FF-D6CB017C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28F57-48B2-E3F7-57AC-CF341014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7170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C5044"/>
                </a:solidFill>
              </a:rPr>
              <a:t>Question 4 - Results</a:t>
            </a:r>
            <a:endParaRPr lang="en-IL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04BC563-AC23-D197-4C41-CE5C1C0AE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559" y="1824533"/>
            <a:ext cx="7539491" cy="503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131F34-15FA-4666-8FA6-6E5BCE7FE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299" y="1149581"/>
            <a:ext cx="6827402" cy="674952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736FBB-E360-A9F0-62DF-654E83A9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0867" y="6421172"/>
            <a:ext cx="4114800" cy="365125"/>
          </a:xfrm>
        </p:spPr>
        <p:txBody>
          <a:bodyPr/>
          <a:lstStyle/>
          <a:p>
            <a:r>
              <a:rPr lang="he-IL" sz="1600" dirty="0"/>
              <a:t>27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3148642032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F76E8-57B4-EAAC-6026-3EE9DC0F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6E99-D821-ED2D-7838-19A0D549C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332" y="1"/>
            <a:ext cx="6380287" cy="67842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C5044"/>
                </a:solidFill>
              </a:rPr>
              <a:t>Question 4 - Conclusions </a:t>
            </a:r>
            <a:endParaRPr lang="en-IL" sz="3200" b="1" dirty="0">
              <a:solidFill>
                <a:srgbClr val="CC5044"/>
              </a:solidFill>
            </a:endParaRP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7C2552F-0FF3-861B-D2D6-14A974089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57" y="589939"/>
            <a:ext cx="7973573" cy="17004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4B5C50-E7EE-9184-7AD2-5DCDD0E39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2202" y="3903224"/>
            <a:ext cx="4425878" cy="295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8928A7-BFA9-FD2B-B3FA-2072FFCA3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02767"/>
            <a:ext cx="7857203" cy="4579032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450C332-39E5-5633-EB22-D07D1F813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4509" y="6492874"/>
            <a:ext cx="4114800" cy="365125"/>
          </a:xfrm>
        </p:spPr>
        <p:txBody>
          <a:bodyPr/>
          <a:lstStyle/>
          <a:p>
            <a:r>
              <a:rPr lang="he-IL" sz="1600" dirty="0"/>
              <a:t>28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3325304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A4B0C-7351-E6DE-4B4F-739957C4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F0B32-DBF9-F50E-0218-C8BAFB0AA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5" y="232975"/>
            <a:ext cx="3969774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5</a:t>
            </a:r>
            <a:endParaRPr lang="en-IL" sz="4800" b="1" dirty="0">
              <a:solidFill>
                <a:srgbClr val="CC504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E92376D9-39B5-C2F3-432B-76F4B33484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5075" y="974416"/>
                <a:ext cx="10439402" cy="2569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/>
                <a:r>
                  <a:rPr lang="en-US" sz="3200" b="1" dirty="0"/>
                  <a:t>How does the value of p change with grid size (for example,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𝟐𝟎𝟎</m:t>
                    </m:r>
                  </m:oMath>
                </a14:m>
                <a:r>
                  <a:rPr lang="en-US" sz="3200" b="1" dirty="0"/>
                  <a:t>)? Is the critical value invariant, or does it scale with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3200" b="1" dirty="0"/>
                  <a:t>?</a:t>
                </a:r>
                <a:endParaRPr lang="en-IL" sz="3200" b="1" dirty="0"/>
              </a:p>
            </p:txBody>
          </p:sp>
        </mc:Choice>
        <mc:Fallback xmlns="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E92376D9-39B5-C2F3-432B-76F4B3348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75" y="974416"/>
                <a:ext cx="10439402" cy="2569805"/>
              </a:xfrm>
              <a:prstGeom prst="rect">
                <a:avLst/>
              </a:prstGeom>
              <a:blipFill>
                <a:blip r:embed="rId2"/>
                <a:stretch>
                  <a:fillRect l="-1459" r="-64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4439757-EC60-E8DF-1F00-C08B5ED4A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18" y="3429000"/>
            <a:ext cx="11564964" cy="2972215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0809168-6121-3876-3044-F83BA592F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he-IL" sz="1600" dirty="0"/>
              <a:t>29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682249960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583E3-85E8-77FB-4020-E0C218C49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0E26F-5A91-C8C6-88D9-3FD3B3CE8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5" y="232975"/>
            <a:ext cx="5179144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5 - Solution</a:t>
            </a:r>
            <a:endParaRPr lang="en-IL" sz="4800" b="1" dirty="0">
              <a:solidFill>
                <a:srgbClr val="CC504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22954-FD08-5588-F83D-AFD8C0579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208" y="1221564"/>
            <a:ext cx="8290021" cy="547228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DC094-99C2-14FF-9BAF-03FDDC696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37133" y="6328724"/>
            <a:ext cx="4114800" cy="365125"/>
          </a:xfrm>
        </p:spPr>
        <p:txBody>
          <a:bodyPr/>
          <a:lstStyle/>
          <a:p>
            <a:r>
              <a:rPr lang="he-IL" sz="1600" dirty="0"/>
              <a:t>30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835513549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4DB02-0D99-82EC-0DF3-7A58EB59C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F3FB-78FF-8FB5-975A-A60819F46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4" y="232975"/>
            <a:ext cx="5415119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CC5044"/>
                </a:solidFill>
              </a:rPr>
              <a:t>Question 5 - Results </a:t>
            </a:r>
            <a:endParaRPr lang="en-IL" sz="4800" b="1" dirty="0">
              <a:solidFill>
                <a:srgbClr val="CC5044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F60341A-760C-0D93-FD22-1805889AC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921" y="2182761"/>
            <a:ext cx="5918544" cy="467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C3B0D178-12B3-74BB-3737-B6B9D2804C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05"/>
          <a:stretch>
            <a:fillRect/>
          </a:stretch>
        </p:blipFill>
        <p:spPr>
          <a:xfrm>
            <a:off x="3199820" y="1292359"/>
            <a:ext cx="5792359" cy="89040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3DD04-D75D-A50C-CF6B-D29EF273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01079" y="6373283"/>
            <a:ext cx="4114800" cy="365125"/>
          </a:xfrm>
        </p:spPr>
        <p:txBody>
          <a:bodyPr/>
          <a:lstStyle/>
          <a:p>
            <a:r>
              <a:rPr lang="he-IL" sz="1600" dirty="0"/>
              <a:t>31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2315328356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DE109-4F5F-F72A-5DFA-384DFC50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479B3-762D-4EFC-538B-FC11DA75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332" y="1"/>
            <a:ext cx="6124649" cy="100417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C5044"/>
                </a:solidFill>
              </a:rPr>
              <a:t>Question 5 - Conclusions </a:t>
            </a:r>
            <a:endParaRPr lang="en-IL" sz="3600" b="1" dirty="0">
              <a:solidFill>
                <a:srgbClr val="CC5044"/>
              </a:solidFill>
            </a:endParaRPr>
          </a:p>
        </p:txBody>
      </p:sp>
      <p:pic>
        <p:nvPicPr>
          <p:cNvPr id="4" name="Picture 3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29946E56-BB2E-0FD9-F958-C4A48C9C9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5" t="10736"/>
          <a:stretch>
            <a:fillRect/>
          </a:stretch>
        </p:blipFill>
        <p:spPr>
          <a:xfrm>
            <a:off x="146725" y="1013138"/>
            <a:ext cx="8990167" cy="48317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B87065-0365-127C-A7E0-ED0E4A2C3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67" y="5672491"/>
            <a:ext cx="9324464" cy="1004173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FE86E45-EC32-134D-7D2D-F6409EAC3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946" y="1325563"/>
            <a:ext cx="4400722" cy="34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3A61C20-1DC8-D7A6-28CD-72E7BA6F5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3836"/>
            <a:ext cx="4114800" cy="365125"/>
          </a:xfrm>
        </p:spPr>
        <p:txBody>
          <a:bodyPr/>
          <a:lstStyle/>
          <a:p>
            <a:r>
              <a:rPr lang="he-IL" sz="1600" dirty="0"/>
              <a:t>32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396649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E9477-3180-1A2C-42E8-BDF27DB5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6" name="Picture 5" descr="A group of people running in front of a fire&#10;&#10;AI-generated content may be incorrect.">
            <a:extLst>
              <a:ext uri="{FF2B5EF4-FFF2-40B4-BE49-F238E27FC236}">
                <a16:creationId xmlns:a16="http://schemas.microsoft.com/office/drawing/2014/main" id="{59FB1CEA-1AB4-17F1-E75D-29DA91B27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5057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0C040C-5EC2-2209-5150-424A0C84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9237"/>
            <a:ext cx="12192000" cy="1325563"/>
          </a:xfrm>
          <a:solidFill>
            <a:schemeClr val="bg1">
              <a:lumMod val="85000"/>
              <a:alpha val="68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ysClr val="windowText" lastClr="000000"/>
                </a:solidFill>
              </a:rPr>
              <a:t>Thank You All For Your Attention🔥🔥</a:t>
            </a:r>
            <a:endParaRPr lang="en-IL" sz="6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2676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6988</TotalTime>
  <Words>511</Words>
  <Application>Microsoft Office PowerPoint</Application>
  <PresentationFormat>Widescreen</PresentationFormat>
  <Paragraphs>87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Aharoni</vt:lpstr>
      <vt:lpstr>Aptos</vt:lpstr>
      <vt:lpstr>Aptos Display</vt:lpstr>
      <vt:lpstr>Arial</vt:lpstr>
      <vt:lpstr>Cambria Math</vt:lpstr>
      <vt:lpstr>Century</vt:lpstr>
      <vt:lpstr>Segoe Print</vt:lpstr>
      <vt:lpstr>Office Theme</vt:lpstr>
      <vt:lpstr>    </vt:lpstr>
      <vt:lpstr>Model Description  • Forest = n×n grid  • Each cell: “tree” with probability p, “empty” with probability 1–p  • Initial ignition: all bottom‐row trees catch fire at t=0  • Fire spreads to 4‐ (up, down, left, right); once burned, cell is final </vt:lpstr>
      <vt:lpstr> Key Questions:  • How does tree density p affect whether a fire spreads through more than 50% of the forest? </vt:lpstr>
      <vt:lpstr>Question 1</vt:lpstr>
      <vt:lpstr>Initializing the forest</vt:lpstr>
      <vt:lpstr>Igniting fire in bottom row</vt:lpstr>
      <vt:lpstr>Spreading fire according to the logic</vt:lpstr>
      <vt:lpstr>Simulating fire and counting trees</vt:lpstr>
      <vt:lpstr>Simulations over different n</vt:lpstr>
      <vt:lpstr>Question 1 - Results</vt:lpstr>
      <vt:lpstr>Question 2</vt:lpstr>
      <vt:lpstr>Question 2 - Solution</vt:lpstr>
      <vt:lpstr>Question 2 - Solution</vt:lpstr>
      <vt:lpstr>Question 2 - Results</vt:lpstr>
      <vt:lpstr>Question 2 - Conclusions</vt:lpstr>
      <vt:lpstr>Question 3</vt:lpstr>
      <vt:lpstr>Question 3 - Solution</vt:lpstr>
      <vt:lpstr>Question 3 - Solution</vt:lpstr>
      <vt:lpstr>Question 3 - Solution</vt:lpstr>
      <vt:lpstr>Question 3 - Results</vt:lpstr>
      <vt:lpstr>Question 3 - Conclusions</vt:lpstr>
      <vt:lpstr>Question 3 - Conclusions</vt:lpstr>
      <vt:lpstr>Question 4</vt:lpstr>
      <vt:lpstr>Question 4 - Solution</vt:lpstr>
      <vt:lpstr>Question 4 - Solution</vt:lpstr>
      <vt:lpstr>Question 4 - Solution</vt:lpstr>
      <vt:lpstr>Question 4 - Results</vt:lpstr>
      <vt:lpstr>Question 4 - Conclusions </vt:lpstr>
      <vt:lpstr>Question 5</vt:lpstr>
      <vt:lpstr>Question 5 - Solution</vt:lpstr>
      <vt:lpstr>Question 5 - Results </vt:lpstr>
      <vt:lpstr>Question 5 - Conclusions </vt:lpstr>
      <vt:lpstr>Thank You All For Your Attention🔥🔥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שאדה עיסאווי</dc:creator>
  <cp:lastModifiedBy>שאדה עיסאווי</cp:lastModifiedBy>
  <cp:revision>120</cp:revision>
  <dcterms:created xsi:type="dcterms:W3CDTF">2025-06-25T22:27:29Z</dcterms:created>
  <dcterms:modified xsi:type="dcterms:W3CDTF">2025-07-01T08:43:36Z</dcterms:modified>
</cp:coreProperties>
</file>